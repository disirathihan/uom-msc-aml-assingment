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8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UNIVERSITY OF MORATUWA  •  FACULTY OF INFORMATION TECHNOLOGY</a:t>
            </a:r>
          </a:p>
          <a:p>
            <a:pPr>
              <a:spcBef>
                <a:spcPts val="1400"/>
              </a:spcBef>
              <a:defRPr sz="3600" b="1">
                <a:solidFill>
                  <a:srgbClr val="F8FAFC"/>
                </a:solidFill>
              </a:defRPr>
            </a:pPr>
            <a:r>
              <a:t>Colombo Suburban Land Valuation System</a:t>
            </a:r>
          </a:p>
          <a:p>
            <a:pPr>
              <a:spcBef>
                <a:spcPts val="800"/>
              </a:spcBef>
              <a:defRPr sz="1500">
                <a:solidFill>
                  <a:srgbClr val="3B82F6"/>
                </a:solidFill>
              </a:defRPr>
            </a:pPr>
            <a:r>
              <a:t>A Comparative Empirical Study of Advanced Tree Ensembles, Stacking Meta-Learners, and Game-Theoretic SHAP Interpretability</a:t>
            </a:r>
          </a:p>
          <a:p>
            <a:pPr>
              <a:spcBef>
                <a:spcPts val="800"/>
              </a:spcBef>
              <a:defRPr sz="1300" i="1">
                <a:solidFill>
                  <a:srgbClr val="94A3B8"/>
                </a:solidFill>
              </a:defRPr>
            </a:pPr>
            <a:r>
              <a:t>Focus Corridor: Malabe – Kottawa – Kaduwela Urban Growth Axis (Western Province, Sri Lanka)</a:t>
            </a:r>
          </a:p>
          <a:p>
            <a:pPr>
              <a:spcBef>
                <a:spcPts val="2600"/>
              </a:spcBef>
              <a:defRPr sz="1400" b="1">
                <a:solidFill>
                  <a:srgbClr val="F59E0B"/>
                </a:solidFill>
              </a:defRPr>
            </a:pPr>
            <a:r>
              <a:t>Candidate: Thihan D.P.D.   |   Index No: 269204J   |   MSc in Artificial Intelligence 2026</a:t>
            </a:r>
          </a:p>
          <a:p>
            <a:pPr>
              <a:spcBef>
                <a:spcPts val="1000"/>
              </a:spcBef>
              <a:defRPr sz="1200">
                <a:solidFill>
                  <a:srgbClr val="10B981"/>
                </a:solidFill>
              </a:defRPr>
            </a:pPr>
            <a:r>
              <a:t>Includes Core Project + 10-Mark Front-End Integration Bonus &amp; Live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01. PROBLEM DEFINITION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Problem Identification &amp; Sri Lankan Real-World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The Malabe–Kottawa Axis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Rapid suburban decentralization in Colombo Metropolitan Region.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IT &amp; Higher Education Hub (Malabe): SLIIT, Horizon, CINEC, LSEG / MillenniumIT.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Multimodal Expressway Junction (Kottawa): Confluence of E01 (Southern) and E02 (Outer Circular).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Administrative Shift: Proximity to Sethsiripaya &amp; Suhurupaya government hubs in Battaramulla.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554480"/>
            <a:ext cx="3328416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82F6"/>
                </a:solidFill>
              </a:defRPr>
            </a:pPr>
            <a:r>
              <a:t>Unique Local Nuances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Perch-Based Pricing: Land transacted universally in Perches (272.25 sq ft) and quoted in Lakhs LKR/perch.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Bim Saviya Title: State-guaranteed Title Registration (Act No. 21 of 1998) commands a sharp premium over customary deeds.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UDA 20-ft Road Rule: Urban Development Authority mandates min. 20 ft access for subdivision &amp; commercial clearance.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Kelani Hydrology: Monsoon flood risks around low-lying canal and river basins cause severe discounts.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554480"/>
            <a:ext cx="3328416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Why Global Data Fails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Standard Kaggle sets (Boston, Ames Housing) operate on sq footage, HOA fees, central heating, and zip codes.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Completely miss Sri Lankan land tenure, expressway feeder congestion, and local bank appraisal heuristics.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Objective: Build a dedicated 2,500-sample empirical dataset reflecting CBSL Land Price Index and IVSL appraisal standards.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Impact: Fair lending, transparent municipal taxation, and homeowner equity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02. DATASET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Empirical Dataset Formulation &amp; Domain Feature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Dataset Specification (N = 2,500)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9 Colombo Localities: </a:t>
            </a:r>
            <a:r>
              <a:rPr b="0">
                <a:solidFill>
                  <a:srgbClr val="94A3B8"/>
                </a:solidFill>
              </a:rPr>
              <a:t>Malabe, Kottawa, Thalawathugoda, Athurugiriya, Battaramulla, Kaduwela, Maharagama, Pannipitiya, Homagama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Spatial Vectors: </a:t>
            </a:r>
            <a:r>
              <a:rPr b="0">
                <a:solidFill>
                  <a:srgbClr val="94A3B8"/>
                </a:solidFill>
              </a:rPr>
              <a:t>Distance to E01/E02 Interchange (km), Distance to Colombo Fort CBD (km), Distance to Main Arterial Bus Route (m)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Legal &amp; Planning: </a:t>
            </a:r>
            <a:r>
              <a:rPr b="0">
                <a:solidFill>
                  <a:srgbClr val="94A3B8"/>
                </a:solidFill>
              </a:rPr>
              <a:t>Access Road Width (feet: 10-40 ft), Bim Saviya Title Guarantee (Binary), UDA Zoning Classification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Physical &amp; Natural: </a:t>
            </a:r>
            <a:r>
              <a:rPr b="0">
                <a:solidFill>
                  <a:srgbClr val="94A3B8"/>
                </a:solidFill>
              </a:rPr>
              <a:t>Parcel extent (perches), Flood Inundation Risk (Binary), Land Topography (Flat/Slope/Low-lying)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Economic Heuristic: </a:t>
            </a:r>
            <a:r>
              <a:rPr b="0">
                <a:solidFill>
                  <a:srgbClr val="94A3B8"/>
                </a:solidFill>
              </a:rPr>
              <a:t>CBSL Colombo Land Price Index anchor benchmark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Target Variable: </a:t>
            </a:r>
            <a:r>
              <a:rPr b="0">
                <a:solidFill>
                  <a:srgbClr val="94A3B8"/>
                </a:solidFill>
              </a:rPr>
              <a:t>Price per Perch in Lakhs LKR (Continuous: 8.5 to 58.0 Lakhs)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48463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03. ALGORITHMIC BENCHMARK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Model Selection Strategy: Avoiding Weak Single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10 Algorithmic Architectures Compared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In strict adherence to instructions, simple weak models were tested only as baselines: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  - Linear Regression, Ridge, Lasso, and Single Decision Tree.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Advanced Ensemble Frameworks evaluated: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  - Random Forest &amp; AdaBoost (Bagging &amp; Boosting)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  - Gradient Boosting (GBM)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  - LightGBM (Leaf-wise growth, histogram binning)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  - XGBoost (Extreme Gradient Boosting with regularized objective)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  - CatBoost (Target encoding, symmetric oblivious trees)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Multi-Level Stacking Meta-Learner: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  - Level-0: CatBoost + XGBoost + LightGBM + Random Forest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  - Level-1 Meta-Learner: ElasticNet Blender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Evaluation Protocol: 5-Fold Stratified Cross-Validation + 20% Unseen Holdout Test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del_comparison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48463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04. QUANTITATIVE EVALUATION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Empirical Results: Ensemble Superiority &amp; Error Reduction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65836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37360"/>
          <a:ext cx="62179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20"/>
                <a:gridCol w="1036320"/>
                <a:gridCol w="1036320"/>
                <a:gridCol w="1036320"/>
                <a:gridCol w="1036320"/>
                <a:gridCol w="1036320"/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CV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Test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RMSE (Lakhs)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MAPE (%)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CatBoost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0.953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0.9676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1.641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5.33%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Stacking Meta-Learner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0.9615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1.790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5.77%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LightGBM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0.9489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2.060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6.62%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XGBoost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0.9435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2.166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7.20%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0.9362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2.302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7.55%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Linear Regression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0.865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0.8712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3.315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11.45%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Single 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0.672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0.6876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5.094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F4444"/>
                          </a:solidFill>
                        </a:defRPr>
                      </a:pPr>
                      <a:r>
                        <a:t>18.32%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554480"/>
            <a:ext cx="38404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Key Benchmark Findings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✔ CatBoost Wins (R² = 0.9676)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Best-in-class handling of multi-nominal categorical variables (9 localities, deed types, zoning) with zero target leakage.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✔ 67.8% Error Reduction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RMSE drops from 5.094 Lakhs (Single Tree) down to 1.641 Lakhs (CatBoost). Single tree collapses under spatial variance.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✔ Stacking Meta-Learner (0.9615)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Second-best architecture, successfully fusing inductive biases of tree-based and gradient boosted models.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✔ Commercial Viability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Mean Absolute Percentage Error (MAPE) of 5.33% falls well within professional chartered valuation tolerances (±7.5%).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05. MODEL INTERPRETABILITY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Model Interpretability: Game-Theoretic SHAP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ap_summary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48463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TreeSHAP Local &amp; Global Insights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The 20-Foot Road Access Threshold (UDA Policy): </a:t>
            </a:r>
            <a:r>
              <a:rPr b="0">
                <a:solidFill>
                  <a:srgbClr val="94A3B8"/>
                </a:solidFill>
              </a:rPr>
              <a:t>SHAP dependence exposes a steep non-linear step-function jump at exactly 20 feet width (+3.5 to +5.0 Lakhs/perch), directly mirroring UDA subdivision regulations.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Expressway Interchange Proximity Gradient: </a:t>
            </a:r>
            <a:r>
              <a:rPr b="0">
                <a:solidFill>
                  <a:srgbClr val="94A3B8"/>
                </a:solidFill>
              </a:rPr>
              <a:t>Exponential price decay beyond 2.5 km from Kottawa/Athurugiriya/Kaduwela interchanges. Commuters pay a heavy premium within the 0-2 km band.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Deed Title Security Premium: </a:t>
            </a:r>
            <a:r>
              <a:rPr b="0">
                <a:solidFill>
                  <a:srgbClr val="94A3B8"/>
                </a:solidFill>
              </a:rPr>
              <a:t>Bim Saviya First-Class title imparts a consistent +4.2 Lakhs/perch uplift, providing quantitative proof of institutional title security value.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Hydrological Discount: </a:t>
            </a:r>
            <a:r>
              <a:rPr b="0">
                <a:solidFill>
                  <a:srgbClr val="94A3B8"/>
                </a:solidFill>
              </a:rPr>
              <a:t>Parcels classified within low-lying flood inundation areas experience an immediate -6.5 Lakhs/perch downward attribution.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Trust &amp; Compliance: </a:t>
            </a:r>
            <a:r>
              <a:rPr b="0">
                <a:solidFill>
                  <a:srgbClr val="94A3B8"/>
                </a:solidFill>
              </a:rPr>
              <a:t>Enables commercial banks and land buyers to inspect exactly WHY each rupee was added or deducted.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06. FRONT-END INTEGRATION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Bonus Deliverable (+10 Marks): Production Front-End System &amp; Interactive SHAP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FastAPI Backend Architecture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High-performance asynchronous Python REST API.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Pydantic schema validation for strict spatial &amp; physical attribute boundaries.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Model serialization via Joblib with pre-fitted ColumnTransformers.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Automated OpenAPI / Swagger interactive documentation at /docs.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554480"/>
            <a:ext cx="3328416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82F6"/>
                </a:solidFill>
              </a:defRPr>
            </a:pPr>
            <a:r>
              <a:t>Interactive Glassmorphism UI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Modern dark-mode dashboard built with pure CSS and Vanilla JS.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Dynamic input controls for locality, road width, perch extent, and title deed type.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Asynchronous AJAX POST requests with zero-latency instant valuation updates.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Visual confidence intervals and total parcel investment calculations (Millions LKR).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554480"/>
            <a:ext cx="3328416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73736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On-the-Fly SHAP Explainability Engine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Real-time TreeSHAP attribution computed dynamically for every user query.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Interactive Waterfall Breakdown bar chart shows exact +/- contributions of each feature.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Unprecedented transparency: No 'black-box' predictions; users see exact mathematical rationale.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Demonstrates complete, production-grade end-to-end MLOps lifecycle.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07. CONCLUSION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Project Summary, Policy Implications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Summary of Contributions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✔ Addressed Sri Lankan Reality: </a:t>
            </a:r>
            <a:r>
              <a:rPr b="0">
                <a:solidFill>
                  <a:srgbClr val="94A3B8"/>
                </a:solidFill>
              </a:rPr>
              <a:t>Replaced foreign generic benchmarks with authentic Western Province socio-economic dynamics.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✔ Defeated Weak Baselines: </a:t>
            </a:r>
            <a:r>
              <a:rPr b="0">
                <a:solidFill>
                  <a:srgbClr val="94A3B8"/>
                </a:solidFill>
              </a:rPr>
              <a:t>Ensembles reduced error by 67.8%; CatBoost (R²=0.9676) and Stacking (R²=0.9615) proved superior.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✔ Disproved the Black Box: </a:t>
            </a:r>
            <a:r>
              <a:rPr b="0">
                <a:solidFill>
                  <a:srgbClr val="94A3B8"/>
                </a:solidFill>
              </a:rPr>
              <a:t>TreeSHAP explained critical threshold non-linearities (20-ft road rule &amp; expressway premium).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✔ End-to-End Delivery: </a:t>
            </a:r>
            <a:r>
              <a:rPr b="0">
                <a:solidFill>
                  <a:srgbClr val="94A3B8"/>
                </a:solidFill>
              </a:rPr>
              <a:t>Accompanied by rigorous academic report, production code, and full live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Policy Value &amp; Future Roadmap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➔ Municipal &amp; UDA Road Widening: </a:t>
            </a:r>
            <a:r>
              <a:rPr b="0">
                <a:solidFill>
                  <a:srgbClr val="94A3B8"/>
                </a:solidFill>
              </a:rPr>
              <a:t>Quantifiable evidence that widening 12 ft access roads to 20 ft unlocks &gt;15% capital appreciation, justifying public municipal road expansion bonds.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➔ Banking &amp; Mortgage Risk: </a:t>
            </a:r>
            <a:r>
              <a:rPr b="0">
                <a:solidFill>
                  <a:srgbClr val="94A3B8"/>
                </a:solidFill>
              </a:rPr>
              <a:t>Eliminates subjective valuation fraud; provides commercial banks with reproducible, automated collateral risk bounds.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➔ Future: Geospatial Satellite Feeds: </a:t>
            </a:r>
            <a:r>
              <a:rPr b="0">
                <a:solidFill>
                  <a:srgbClr val="94A3B8"/>
                </a:solidFill>
              </a:rPr>
              <a:t>Incorporate Sentinel-2 and high-resolution LiDAR elevation data to auto-detect micro-topography and wetland vegetation boundaries.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➔ Automated Title Ingestion: </a:t>
            </a:r>
            <a:r>
              <a:rPr b="0">
                <a:solidFill>
                  <a:srgbClr val="94A3B8"/>
                </a:solidFill>
              </a:rPr>
              <a:t>Integrate OCR &amp; LLM pipeline to ingest Land Registry extracts directly into Bim Saviya verification modules.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